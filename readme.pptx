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6" r:id="rId5"/>
    <p:sldId id="260" r:id="rId6"/>
    <p:sldId id="261" r:id="rId7"/>
    <p:sldId id="268" r:id="rId8"/>
    <p:sldId id="262" r:id="rId9"/>
    <p:sldId id="271" r:id="rId10"/>
    <p:sldId id="263" r:id="rId11"/>
    <p:sldId id="269" r:id="rId12"/>
    <p:sldId id="264" r:id="rId13"/>
  </p:sldIdLst>
  <p:sldSz cx="9144000" cy="6858000" type="screen4x3"/>
  <p:notesSz cx="6858000" cy="91440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charset="0"/>
        <a:ea typeface="Arial" charset="0"/>
        <a:sym typeface="Arial" charset="0"/>
      </a:defRPr>
    </a:lvl5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90" d="100"/>
          <a:sy n="90" d="100"/>
        </p:scale>
        <p:origin x="125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/>
            <a:endParaRPr lang="en-US" altLang="en-US" sz="1200">
              <a:latin typeface="Calibri" pitchFamily="34" charset="0"/>
            </a:endParaRPr>
          </a:p>
        </p:txBody>
      </p:sp>
      <p:sp>
        <p:nvSpPr>
          <p:cNvPr id="1048666" name="Date Placeholder 2"/>
          <p:cNvSpPr>
            <a:spLocks noGrp="1"/>
          </p:cNvSpPr>
          <p:nvPr>
            <p:ph type="dt" idx="1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algn="r" eaLnBrk="1" hangingPunct="1"/>
            <a:fld id="{566ABCEB-ACFC-4714-9973-3DA970169C29}" type="datetime1">
              <a:rPr lang="en-US" altLang="en-US" sz="1200">
                <a:latin typeface="Calibri" pitchFamily="34" charset="0"/>
              </a:rPr>
              <a:pPr lvl="0" algn="r" eaLnBrk="1" hangingPunct="1"/>
              <a:t>10/7/2026</a:t>
            </a:fld>
            <a:endParaRPr lang="en-US" altLang="en-US" sz="1200">
              <a:latin typeface="Calibri" pitchFamily="34" charset="0"/>
            </a:endParaRPr>
          </a:p>
        </p:txBody>
      </p:sp>
      <p:sp>
        <p:nvSpPr>
          <p:cNvPr id="10486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6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eaLnBrk="1" hangingPunct="1"/>
            <a:endParaRPr lang="en-US" altLang="en-US" sz="1200">
              <a:latin typeface="Calibri" pitchFamily="34" charset="0"/>
            </a:endParaRPr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/>
            <a:fld id="{566ABCEB-ACFC-4714-9973-3DA970169C29}" type="slidenum">
              <a:rPr lang="en-US" altLang="en-US" sz="1200"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latin typeface="Calibri" pitchFamily="34" charset="0"/>
            </a:endParaRPr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Calibri" pitchFamily="34" charset="0"/>
        <a:sym typeface="Arial" charset="0"/>
      </a:defRPr>
    </a:lvl5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vert="horz" lIns="91440" tIns="45720" rIns="91440" bIns="45720" anchor="ctr"/>
          <a:lstStyle/>
          <a:p>
            <a:endParaRPr/>
          </a:p>
        </p:txBody>
      </p:sp>
      <p:sp>
        <p:nvSpPr>
          <p:cNvPr id="1048592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48593" name="Slide Number Placeholder 3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b"/>
          <a:lstStyle/>
          <a:p>
            <a:pPr lvl="0" algn="r" eaLnBrk="1" hangingPunct="1">
              <a:spcBef>
                <a:spcPct val="0"/>
              </a:spcBef>
            </a:pPr>
            <a:fld id="{566ABCEB-ACFC-4714-9973-3DA970169C29}" type="slidenum">
              <a:rPr lang="en-US" altLang="en-US">
                <a:ea typeface="Arial" charset="0"/>
              </a:rPr>
              <a:pPr lvl="0" algn="r" eaLnBrk="1" hangingPunct="1">
                <a:spcBef>
                  <a:spcPct val="0"/>
                </a:spcBef>
              </a:pPr>
              <a:t>12</a:t>
            </a:fld>
            <a:endParaRPr lang="en-US" altLang="en-US">
              <a:ea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58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0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3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t>1/1/2026</a:t>
            </a: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ct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‹#›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3"/>
          <p:cNvSpPr/>
          <p:nvPr/>
        </p:nvSpPr>
        <p:spPr>
          <a:xfrm>
            <a:off x="143668" y="1148673"/>
            <a:ext cx="8369300" cy="313932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en-IN" altLang="en-US" sz="2400" dirty="0">
              <a:latin typeface="Cambria" pitchFamily="18" charset="0"/>
              <a:ea typeface="Cambria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en-IN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“Sign </a:t>
            </a:r>
            <a:r>
              <a:rPr lang="en-US" altLang="en-GB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Language Capture and Illustration System with Sensor Integration</a:t>
            </a:r>
            <a: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”</a:t>
            </a:r>
            <a:endParaRPr lang="en-US" altLang="en-US" sz="2400" dirty="0">
              <a:solidFill>
                <a:srgbClr val="E46C0A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US" altLang="en-GB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By</a:t>
            </a:r>
          </a:p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1) 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Ms</a:t>
            </a:r>
            <a:r>
              <a:rPr lang="en-US" altLang="en-GB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.Snehal</a:t>
            </a: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Bhagwan Patil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2455005)</a:t>
            </a:r>
          </a:p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Cambria" pitchFamily="18" charset="0"/>
              <a:ea typeface="Cambria" pitchFamily="18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en-US" sz="2400" b="1" dirty="0">
              <a:solidFill>
                <a:srgbClr val="00B05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048605" name="Title 4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endParaRPr lang="zh-CN" altLang="en-US" sz="2800" b="1">
              <a:ea typeface="Arial" charset="0"/>
            </a:endParaRPr>
          </a:p>
        </p:txBody>
      </p:sp>
      <p:pic>
        <p:nvPicPr>
          <p:cNvPr id="2097157" name="Picture 4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2746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6" name="TextBox 1"/>
          <p:cNvSpPr txBox="1"/>
          <p:nvPr/>
        </p:nvSpPr>
        <p:spPr>
          <a:xfrm rot="21600000">
            <a:off x="457200" y="0"/>
            <a:ext cx="7646987" cy="461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endParaRPr lang="en-IN" altLang="en-US" sz="2400">
              <a:latin typeface="Arial" charset="0"/>
              <a:ea typeface="Arial" charset="0"/>
            </a:endParaRPr>
          </a:p>
        </p:txBody>
      </p:sp>
      <p:sp>
        <p:nvSpPr>
          <p:cNvPr id="1048607" name="TextBox 4"/>
          <p:cNvSpPr txBox="1"/>
          <p:nvPr/>
        </p:nvSpPr>
        <p:spPr>
          <a:xfrm>
            <a:off x="492125" y="84137"/>
            <a:ext cx="7646987" cy="8026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en-IN" altLang="en-US" sz="2400" b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Department of Electronics &amp; Tele</a:t>
            </a:r>
            <a:r>
              <a:rPr lang="en-US" altLang="en-GB" sz="2400" b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co</a:t>
            </a:r>
            <a:r>
              <a:rPr lang="en-IN" altLang="en-US" sz="2400" b="1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mmunication Engineering</a:t>
            </a:r>
            <a:endParaRPr lang="zh-CN" altLang="en-US"/>
          </a:p>
        </p:txBody>
      </p:sp>
      <p:sp>
        <p:nvSpPr>
          <p:cNvPr id="1048608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1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Content Placeholder 2"/>
          <p:cNvSpPr>
            <a:spLocks noGrp="1"/>
          </p:cNvSpPr>
          <p:nvPr>
            <p:ph idx="1"/>
          </p:nvPr>
        </p:nvSpPr>
        <p:spPr>
          <a:xfrm rot="11202">
            <a:off x="395585" y="1079053"/>
            <a:ext cx="8496898" cy="785234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algn="just">
              <a:lnSpc>
                <a:spcPct val="150000"/>
              </a:lnSpc>
              <a:tabLst>
                <a:tab pos="114300" algn="l"/>
                <a:tab pos="533400" algn="l"/>
              </a:tabLst>
            </a:pP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Communication is a basic need, but it is </a:t>
            </a:r>
            <a:r>
              <a:rPr lang="en-US" altLang="en-GB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diffcult</a:t>
            </a: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for hearing-impaired and speech-impaired people because they use sign language. </a:t>
            </a:r>
          </a:p>
          <a:p>
            <a:pPr algn="just">
              <a:lnSpc>
                <a:spcPct val="150000"/>
              </a:lnSpc>
              <a:tabLst>
                <a:tab pos="114300" algn="l"/>
                <a:tab pos="533400" algn="l"/>
              </a:tabLst>
            </a:pP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Most people do not understand sign language, which creates a communication gap.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114300" algn="l"/>
                <a:tab pos="533400" algn="l"/>
              </a:tabLst>
            </a:pP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This project aims to reduce that gap by developing a sensor-based sign language recognition system.</a:t>
            </a:r>
          </a:p>
          <a:p>
            <a:pPr algn="just">
              <a:lnSpc>
                <a:spcPct val="150000"/>
              </a:lnSpc>
              <a:tabLst>
                <a:tab pos="114300" algn="l"/>
                <a:tab pos="533400" algn="l"/>
              </a:tabLst>
            </a:pPr>
            <a:r>
              <a:rPr lang="en-US" altLang="en-GB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this system, a glove with flex sensors and an IMU sensor is used to capture hand movements and gestures.</a:t>
            </a:r>
          </a:p>
          <a:p>
            <a:pPr algn="just">
              <a:lnSpc>
                <a:spcPct val="150000"/>
              </a:lnSpc>
              <a:tabLst>
                <a:tab pos="114300" algn="l"/>
                <a:tab pos="533400" algn="l"/>
              </a:tabLs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 is processed using machine learning to recognize gestures, which are then converted into text or visual illustrations, enabling effective communication between sign language users and others.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>
              <a:alpha val="100000"/>
            </a:srgbClr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 algn="l"/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       Introduction</a:t>
            </a:r>
          </a:p>
        </p:txBody>
      </p:sp>
      <p:pic>
        <p:nvPicPr>
          <p:cNvPr id="2097158" name="Picture 4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2746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1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2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457200" y="960437"/>
            <a:ext cx="8363272" cy="562292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altLang="en-GB" sz="1600" b="1" dirty="0"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</a:t>
            </a:r>
            <a:r>
              <a:rPr lang="en-GB" alt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Most people are unfamiliar with sign language, making communication difficult for hearing- or speech-impaired individuals. Existing vision-based systems are expensive, complex, and sensitive to lighting conditions. Hence, a cost-effective, portable, and reliable sensor-based solution is required.</a:t>
            </a:r>
            <a:endParaRPr lang="zh-CN" altLang="en-US" sz="2000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50000"/>
              </a:lnSpc>
              <a:buNone/>
            </a:pPr>
            <a:endParaRPr lang="en-US" altLang="en-US" sz="1800" dirty="0"/>
          </a:p>
        </p:txBody>
      </p:sp>
      <p:sp>
        <p:nvSpPr>
          <p:cNvPr id="1048613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>
              <a:alpha val="100000"/>
            </a:srgbClr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 algn="l"/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 Brief Description</a:t>
            </a:r>
          </a:p>
        </p:txBody>
      </p:sp>
      <p:pic>
        <p:nvPicPr>
          <p:cNvPr id="2097159" name="Picture 4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2746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3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A160-99F9-837D-F456-31B03289A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52736"/>
            <a:ext cx="8291264" cy="5073426"/>
          </a:xfrm>
        </p:spPr>
        <p:txBody>
          <a:bodyPr/>
          <a:lstStyle/>
          <a:p>
            <a:pPr marL="0" lv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  <a:r>
              <a:rPr lang="en-US" altLang="en-GB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:-</a:t>
            </a:r>
            <a:endParaRPr lang="zh-CN" altLang="en-US" sz="2400" dirty="0"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 design a sensor-based system to recognize sign language gestures.</a:t>
            </a:r>
          </a:p>
          <a:p>
            <a:pPr marL="457200" lvl="1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system enables effective communication for deaf and mute                              individuals.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 use flex sensors and an IMU sensor to capture accurate hand movements.</a:t>
            </a:r>
          </a:p>
          <a:p>
            <a:pPr marL="457200" lvl="1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sensors provide precise motion and orientation data of the  hand.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 apply machine learning techniques for sign language recognition.</a:t>
            </a:r>
          </a:p>
          <a:p>
            <a:pPr marL="457200" lvl="1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model classifies hand gestures based on learned sensor patterns.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To convert recognized gestures into text and voice output.</a:t>
            </a:r>
          </a:p>
          <a:p>
            <a:pPr marL="457200" lvl="1" indent="0" algn="just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output allows easy understanding by normal users.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q"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1" hangingPunct="1">
              <a:buNone/>
            </a:pPr>
            <a:endParaRPr lang="en-US" altLang="en-US" sz="1800" dirty="0">
              <a:latin typeface="Cambria" pitchFamily="18" charset="0"/>
              <a:ea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AE57C-E84B-8833-66F9-02D5E1375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en-US" sz="1200" smtClean="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4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79A5B7-EBA6-6AE4-907B-4261BF89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069"/>
            <a:ext cx="9144000" cy="1143000"/>
          </a:xfrm>
          <a:prstGeom prst="rect">
            <a:avLst/>
          </a:prstGeom>
          <a:solidFill>
            <a:srgbClr val="FFC000">
              <a:alpha val="100000"/>
            </a:srgbClr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ctr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4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</a:lstStyle>
          <a:p>
            <a:pPr lvl="0" algn="l"/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 Brief Description</a:t>
            </a:r>
          </a:p>
        </p:txBody>
      </p:sp>
    </p:spTree>
    <p:extLst>
      <p:ext uri="{BB962C8B-B14F-4D97-AF65-F5344CB8AC3E}">
        <p14:creationId xmlns:p14="http://schemas.microsoft.com/office/powerpoint/2010/main" val="193079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3200" b="1" dirty="0">
                <a:latin typeface="Cambria" pitchFamily="18" charset="0"/>
                <a:ea typeface="Cambria" pitchFamily="18" charset="0"/>
              </a:rPr>
              <a:t>    Proposed Block Diagram</a:t>
            </a:r>
          </a:p>
        </p:txBody>
      </p:sp>
      <p:pic>
        <p:nvPicPr>
          <p:cNvPr id="2097156" name="Picture 5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1984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0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5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1DE57-204E-2454-3234-DE9403A69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66"/>
          <a:stretch>
            <a:fillRect/>
          </a:stretch>
        </p:blipFill>
        <p:spPr>
          <a:xfrm>
            <a:off x="677104" y="1628800"/>
            <a:ext cx="7992888" cy="37444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C8F564-9ACA-61CF-048C-7C7CBC985DCE}"/>
              </a:ext>
            </a:extLst>
          </p:cNvPr>
          <p:cNvSpPr txBox="1"/>
          <p:nvPr/>
        </p:nvSpPr>
        <p:spPr>
          <a:xfrm>
            <a:off x="1475656" y="5517232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Block Diagram of Proposed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3200" b="1">
                <a:latin typeface="Cambria" pitchFamily="18" charset="0"/>
                <a:ea typeface="Cambria" pitchFamily="18" charset="0"/>
              </a:rPr>
              <a:t>    Hardware &amp; Software Requirement</a:t>
            </a:r>
          </a:p>
        </p:txBody>
      </p:sp>
      <p:pic>
        <p:nvPicPr>
          <p:cNvPr id="2097155" name="Picture 5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1984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8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6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0FF33-7D27-17B4-5022-F5DC556312CF}"/>
              </a:ext>
            </a:extLst>
          </p:cNvPr>
          <p:cNvSpPr txBox="1"/>
          <p:nvPr/>
        </p:nvSpPr>
        <p:spPr>
          <a:xfrm>
            <a:off x="323528" y="-1526203"/>
            <a:ext cx="9561313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b="1" dirty="0"/>
          </a:p>
          <a:p>
            <a:pPr>
              <a:buNone/>
            </a:pP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Flex Sensors (5)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Arduino Microcontroller (Uno / Nano)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Raspberry Pi (Model 3 / Model 4)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Bluetooth Module (HC-05 / HC-06)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Voltage Divider Resistor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Speaker / Audio Output Device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Display Device (Mobile / Monitor)</a:t>
            </a:r>
          </a:p>
          <a:p>
            <a:pPr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8A36E-BE3F-BDE3-7178-5D2E4F4C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Software Components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1. Arduino IDE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2. Python Programming Language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3. NumPy and Pandas</a:t>
            </a: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4.Jupyter Notebook / Google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Colab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5.Text-to-Speech (TTS) Engine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A7BA6-4D2D-BB19-AE02-3B67485B9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en-US" sz="1200" smtClean="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7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385817-7600-1886-10C1-AFC0D2B6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&amp; Software Requirement</a:t>
            </a:r>
          </a:p>
        </p:txBody>
      </p:sp>
    </p:spTree>
    <p:extLst>
      <p:ext uri="{BB962C8B-B14F-4D97-AF65-F5344CB8AC3E}">
        <p14:creationId xmlns:p14="http://schemas.microsoft.com/office/powerpoint/2010/main" val="128625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4"/>
          <p:cNvSpPr/>
          <p:nvPr/>
        </p:nvSpPr>
        <p:spPr>
          <a:xfrm>
            <a:off x="11546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2097154" name="Picture 5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1984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5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8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B3705-4F90-E2D4-B0ED-A49AE3650672}"/>
              </a:ext>
            </a:extLst>
          </p:cNvPr>
          <p:cNvSpPr txBox="1"/>
          <p:nvPr/>
        </p:nvSpPr>
        <p:spPr>
          <a:xfrm>
            <a:off x="658784" y="1340768"/>
            <a:ext cx="7416824" cy="57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1. Gesture Capture</a:t>
            </a:r>
            <a:b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User performs a predefined hand gesture using a sensor-equipped glove.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2. Sensor Detection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Five flex sensors detect the bending of each finger and generate corresponding sensor values.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Data Acquisition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sensor readings are collected and processed using the Raspberry Pi.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4. Data Preprocessing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acquired readings are cleaned and arranged into a suitable format for the ML model.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 Gesture Recognition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trained Machine Learning model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analyzes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the sensor pattern and identifies the corresponding gesture.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6. Illustration &amp; Output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recognized gesture is converted into text and voice output.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BC96-3285-C5C3-D815-A91BF179B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987008" cy="4525962"/>
          </a:xfrm>
        </p:spPr>
        <p:txBody>
          <a:bodyPr/>
          <a:lstStyle/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Successfully developed the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sensor-based glove prototype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Integrated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five flex sensors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one for each finger.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Connected the sensors with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resistors and Arduino Uno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data acquisition.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Established the basic hardware setup for capturing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finger-bending movements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prototype is ready for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sensor-value testing and data collection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lvl="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Further work includes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gesture dataset creation, ML model training, and real-time gesture recognition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D37E3-3B12-7A37-91F6-1224F7EF5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en-US" sz="1200" smtClean="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9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71103C-5B62-5201-7E3E-5E2ADB6A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3998F2-D7EA-1179-F2F6-E77AA888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1600200"/>
            <a:ext cx="2370537" cy="332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9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/>
            <a:r>
              <a:rPr lang="en-US" altLang="en-US" sz="24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2097152" name="Picture 5" descr="Copy of INCONRIT 2016 (1).jpg"/>
          <p:cNvPicPr>
            <a:picLocks/>
          </p:cNvPicPr>
          <p:nvPr/>
        </p:nvPicPr>
        <p:blipFill>
          <a:blip r:embed="rId2">
            <a:lum contrast="30000"/>
          </a:blip>
          <a:srcRect/>
          <a:stretch>
            <a:fillRect/>
          </a:stretch>
        </p:blipFill>
        <p:spPr>
          <a:xfrm>
            <a:off x="8077200" y="1984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7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10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48671" name="TextBox 1048670"/>
          <p:cNvSpPr txBox="1"/>
          <p:nvPr/>
        </p:nvSpPr>
        <p:spPr>
          <a:xfrm>
            <a:off x="323529" y="1340768"/>
            <a:ext cx="8469778" cy="51229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Used as a communication aid for hearing and speech impaired individuals to interact with non-sign language users.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Helps convert Indian Sign Language gestures into text and speech in real time.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Useful in hospitals and healthcare centers for patient–doctor communication.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Supports human–computer interaction through gesture-based control systems.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Acts as a learning and research tool for sign language recognition and assistive technologies.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Can be integrated with smart devices and IoT-based assistive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DF569-FE07-E466-EC0D-5487DF08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[1] A. K. Pandey and A. K. Singh, “Sign language recognition using flex sensors and machine learning,”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Innovative Research in Computer and Communication Engineering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6, no. 4, pp. 112–118, 2018.</a:t>
            </a:r>
          </a:p>
          <a:p>
            <a:pPr marL="0" indent="0" algn="just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[2] S. M. Patel and R. S. Jain, “Hand gesture recognition system using Arduino and Bluetooth communication,”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Engineering Research &amp; Technology (IJERT)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9, no. 5, pp. 225–230, 2020.</a:t>
            </a:r>
          </a:p>
          <a:p>
            <a:pPr marL="0" indent="0" algn="just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[3] R. Gupta and P. Kumar, “Real-time sign language translation using Raspberry Pi and machine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Proc. International Conference on Smart Technologies for Smart Nation (</a:t>
            </a:r>
            <a:r>
              <a:rPr lang="en-IN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SmartTechCon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2021, pp. 345–350.</a:t>
            </a: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620C8-72C8-31BB-7E70-F39E27751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 algn="r" eaLnBrk="1" hangingPunct="1"/>
            <a:fld id="{566ABCEB-ACFC-4714-9973-3DA970169C29}" type="slidenum">
              <a:rPr lang="en-US" altLang="en-US" sz="1200" smtClean="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11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D049152-3D78-D889-B57C-E2708095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algn="l"/>
            <a:r>
              <a:rPr lang="en-IN" sz="3200" b="1" dirty="0">
                <a:latin typeface="Cambria" panose="02040503050406030204" pitchFamily="18" charset="0"/>
                <a:ea typeface="Cambria" panose="02040503050406030204" pitchFamily="18" charset="0"/>
              </a:rPr>
              <a:t>   References</a:t>
            </a:r>
          </a:p>
        </p:txBody>
      </p:sp>
    </p:spTree>
    <p:extLst>
      <p:ext uri="{BB962C8B-B14F-4D97-AF65-F5344CB8AC3E}">
        <p14:creationId xmlns:p14="http://schemas.microsoft.com/office/powerpoint/2010/main" val="95490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32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8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24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–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charset="0"/>
              <a:buChar char="»"/>
              <a:defRPr sz="2000" b="0" i="0" u="none" baseline="0">
                <a:solidFill>
                  <a:schemeClr val="dk1"/>
                </a:solidFill>
                <a:latin typeface="Calibri" pitchFamily="34" charset="0"/>
                <a:sym typeface="Arial" charset="0"/>
              </a:defRPr>
            </a:lvl5pPr>
          </a:lstStyle>
          <a:p>
            <a:pPr lvl="0" eaLnBrk="1" hangingPunct="1"/>
            <a:endParaRPr lang="en-US" altLang="en-US" dirty="0"/>
          </a:p>
          <a:p>
            <a:pPr lvl="0" eaLnBrk="1" hangingPunct="1"/>
            <a:endParaRPr lang="en-US" altLang="en-US" dirty="0"/>
          </a:p>
          <a:p>
            <a:pPr lvl="0" eaLnBrk="1" hangingPunct="1"/>
            <a:endParaRPr lang="en-US" altLang="en-US" dirty="0"/>
          </a:p>
          <a:p>
            <a:pPr lvl="0" eaLnBrk="1" hangingPunct="1">
              <a:buNone/>
            </a:pPr>
            <a:r>
              <a:rPr lang="en-US" altLang="en-US" dirty="0"/>
              <a:t>                      </a:t>
            </a:r>
            <a:r>
              <a:rPr lang="en-US" altLang="en-US" sz="4800" b="1" dirty="0"/>
              <a:t>  </a:t>
            </a:r>
            <a:r>
              <a:rPr lang="en-US" altLang="en-US" sz="3600" b="1" dirty="0"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1048589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eaLnBrk="1" hangingPunct="1"/>
            <a:endParaRPr lang="en-US" altLang="en-US" sz="3600" b="1">
              <a:latin typeface="Bookman Old Style" pitchFamily="18" charset="0"/>
            </a:endParaRPr>
          </a:p>
        </p:txBody>
      </p:sp>
      <p:pic>
        <p:nvPicPr>
          <p:cNvPr id="2097153" name="Picture 4" descr="Copy of INCONRIT 2016 (1).jpg"/>
          <p:cNvPicPr>
            <a:picLocks/>
          </p:cNvPicPr>
          <p:nvPr/>
        </p:nvPicPr>
        <p:blipFill>
          <a:blip r:embed="rId3">
            <a:lum contrast="30000"/>
          </a:blip>
          <a:srcRect/>
          <a:stretch>
            <a:fillRect/>
          </a:stretch>
        </p:blipFill>
        <p:spPr>
          <a:xfrm>
            <a:off x="8077200" y="198437"/>
            <a:ext cx="871537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0" name="Slide Number Placeholder 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1pPr>
            <a:lvl2pPr marL="4572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2pPr>
            <a:lvl3pPr marL="9144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3pPr>
            <a:lvl4pPr marL="13716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4pPr>
            <a:lvl5pPr marL="182880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charset="0"/>
                <a:ea typeface="Arial" charset="0"/>
                <a:sym typeface="Arial" charset="0"/>
              </a:defRPr>
            </a:lvl5pPr>
          </a:lstStyle>
          <a:p>
            <a:pPr lvl="0" algn="r" eaLnBrk="1" hangingPunct="1"/>
            <a:fld id="{566ABCEB-ACFC-4714-9973-3DA970169C29}" type="slidenum">
              <a:rPr lang="en-US" altLang="en-US" sz="1200">
                <a:solidFill>
                  <a:srgbClr val="898989"/>
                </a:solidFill>
                <a:latin typeface="Calibri" pitchFamily="34" charset="0"/>
              </a:rPr>
              <a:pPr lvl="0" algn="r" eaLnBrk="1" hangingPunct="1"/>
              <a:t>12</a:t>
            </a:fld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3C1DA"/>
        </a:accent5>
        <a:accent6>
          <a:srgbClr val="AC4744"/>
        </a:accent6>
        <a:hlink>
          <a:srgbClr val="0000FF"/>
        </a:hlink>
        <a:folHlink>
          <a:srgbClr val="800080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809</Words>
  <Application>Microsoft Office PowerPoint</Application>
  <PresentationFormat>On-screen Show (4:3)</PresentationFormat>
  <Paragraphs>101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Calibri Light</vt:lpstr>
      <vt:lpstr>Cambria</vt:lpstr>
      <vt:lpstr>Times New Roman</vt:lpstr>
      <vt:lpstr>Wingdings</vt:lpstr>
      <vt:lpstr>Office 主题</vt:lpstr>
      <vt:lpstr>PowerPoint Presentation</vt:lpstr>
      <vt:lpstr>       Introduction</vt:lpstr>
      <vt:lpstr> Brief Description</vt:lpstr>
      <vt:lpstr> Brief Description</vt:lpstr>
      <vt:lpstr>PowerPoint Presentation</vt:lpstr>
      <vt:lpstr>PowerPoint Presentation</vt:lpstr>
      <vt:lpstr>  Hardware &amp; Software Requirement</vt:lpstr>
      <vt:lpstr>PowerPoint Presentation</vt:lpstr>
      <vt:lpstr>  Result</vt:lpstr>
      <vt:lpstr>PowerPoint Presentation</vt:lpstr>
      <vt:lpstr> 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Patent</dc:title>
  <dc:creator>Electronics-5</dc:creator>
  <cp:lastModifiedBy>bellerushikesh12@gmail.com</cp:lastModifiedBy>
  <cp:revision>14</cp:revision>
  <dcterms:created xsi:type="dcterms:W3CDTF">2017-02-25T07:20:10Z</dcterms:created>
  <dcterms:modified xsi:type="dcterms:W3CDTF">2026-10-06T18:44:52Z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7cc26cf2c12c4dbe8a5a6806437a35de</vt:lpwstr>
  </property>
</Properties>
</file>